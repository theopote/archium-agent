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notesSlides/notesSlide1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</p:sldIdLst>
  <p:notesMasterIdLst>
    <p:notesMasterId r:id="rId3"/>
  </p:notesMasterIdLst>
  <p:sldSz cx="9144000" cy="5143500"/>
  <p:notesSz cx="5143500" cy="9144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notesMaster" Target="notesMasters/notesMaster1.xml"/><Relationship Id="rId4" Type="http://schemas.openxmlformats.org/officeDocument/2006/relationships/presProps" Target="presProps.xml"/><Relationship Id="rId5" Type="http://schemas.openxmlformats.org/officeDocument/2006/relationships/viewProps" Target="viewProps.xml"/><Relationship Id="rId6" Type="http://schemas.openxmlformats.org/officeDocument/2006/relationships/theme" Target="theme/theme1.xml"/><Relationship Id="rId7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ARCHIUM_PLAN_MASTER">
    <p:bg>
      <p:bgPr>
        <a:solidFill>
          <a:srgbClr val="F7F6F3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411480"/>
            <a:ext cx="7863840" cy="621792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l" indent="0" marL="0">
              <a:buNone/>
            </a:pPr>
            <a:r>
              <a:rPr lang="en-US" sz="3400" b="1" dirty="0">
                <a:solidFill>
                  <a:srgbClr val="1A1A1A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患者旅程：到达至离院</a:t>
            </a:r>
            <a:endParaRPr lang="en-US" sz="3400" dirty="0"/>
          </a:p>
        </p:txBody>
      </p:sp>
      <p:sp>
        <p:nvSpPr>
          <p:cNvPr id="3" name="Text 1"/>
          <p:cNvSpPr/>
          <p:nvPr/>
        </p:nvSpPr>
        <p:spPr>
          <a:xfrm>
            <a:off x="640080" y="1071372"/>
            <a:ext cx="7863840" cy="326898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l" indent="0" marL="0">
              <a:buNone/>
            </a:pPr>
            <a:r>
              <a:rPr lang="en-US" sz="1800" dirty="0">
                <a:solidFill>
                  <a:srgbClr val="4A4A4A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通过分层到达与分区候诊，缩短交叉流线并提升导向清晰度。</a:t>
            </a:r>
            <a:endParaRPr lang="en-US" sz="1800" dirty="0"/>
          </a:p>
        </p:txBody>
      </p:sp>
      <p:sp>
        <p:nvSpPr>
          <p:cNvPr id="4" name="Shape 2"/>
          <p:cNvSpPr/>
          <p:nvPr/>
        </p:nvSpPr>
        <p:spPr>
          <a:xfrm>
            <a:off x="1380744" y="1752173"/>
            <a:ext cx="6382512" cy="32004"/>
          </a:xfrm>
          <a:prstGeom prst="rect">
            <a:avLst/>
          </a:prstGeom>
          <a:solidFill>
            <a:srgbClr val="D9D5CF"/>
          </a:solidFill>
          <a:ln w="12700">
            <a:solidFill>
              <a:srgbClr val="D9D5CF"/>
            </a:solidFill>
            <a:prstDash val="solid"/>
          </a:ln>
        </p:spPr>
      </p:sp>
      <p:sp>
        <p:nvSpPr>
          <p:cNvPr id="5" name="Shape 3"/>
          <p:cNvSpPr/>
          <p:nvPr/>
        </p:nvSpPr>
        <p:spPr>
          <a:xfrm>
            <a:off x="640080" y="1474470"/>
            <a:ext cx="1481328" cy="2314194"/>
          </a:xfrm>
          <a:prstGeom prst="rect">
            <a:avLst/>
          </a:prstGeom>
          <a:solidFill>
            <a:srgbClr val="FFFFFF"/>
          </a:solidFill>
          <a:ln w="17780">
            <a:solidFill>
              <a:srgbClr val="8B4513"/>
            </a:solidFill>
            <a:prstDash val="solid"/>
          </a:ln>
        </p:spPr>
      </p:sp>
      <p:sp>
        <p:nvSpPr>
          <p:cNvPr id="6" name="Shape 4"/>
          <p:cNvSpPr/>
          <p:nvPr/>
        </p:nvSpPr>
        <p:spPr>
          <a:xfrm>
            <a:off x="2121408" y="2284438"/>
            <a:ext cx="114300" cy="256032"/>
          </a:xfrm>
          <a:prstGeom prst="rect">
            <a:avLst/>
          </a:prstGeom>
          <a:solidFill>
            <a:srgbClr val="FFFFFF"/>
          </a:solidFill>
          <a:ln w="12700">
            <a:solidFill>
              <a:srgbClr val="D9D5CF"/>
            </a:solidFill>
            <a:prstDash val="solid"/>
          </a:ln>
        </p:spPr>
      </p:sp>
      <p:sp>
        <p:nvSpPr>
          <p:cNvPr id="7" name="Shape 5"/>
          <p:cNvSpPr/>
          <p:nvPr/>
        </p:nvSpPr>
        <p:spPr>
          <a:xfrm>
            <a:off x="2235708" y="1474470"/>
            <a:ext cx="1481328" cy="2314194"/>
          </a:xfrm>
          <a:prstGeom prst="rect">
            <a:avLst/>
          </a:prstGeom>
          <a:solidFill>
            <a:srgbClr val="FFFFFF"/>
          </a:solidFill>
          <a:ln w="10160">
            <a:solidFill>
              <a:srgbClr val="D9D5CF"/>
            </a:solidFill>
            <a:prstDash val="solid"/>
          </a:ln>
        </p:spPr>
      </p:sp>
      <p:sp>
        <p:nvSpPr>
          <p:cNvPr id="8" name="Shape 6"/>
          <p:cNvSpPr/>
          <p:nvPr/>
        </p:nvSpPr>
        <p:spPr>
          <a:xfrm>
            <a:off x="3717036" y="2284438"/>
            <a:ext cx="114300" cy="256032"/>
          </a:xfrm>
          <a:prstGeom prst="rect">
            <a:avLst/>
          </a:prstGeom>
          <a:solidFill>
            <a:srgbClr val="FFFFFF"/>
          </a:solidFill>
          <a:ln w="12700">
            <a:solidFill>
              <a:srgbClr val="D9D5CF"/>
            </a:solidFill>
            <a:prstDash val="solid"/>
          </a:ln>
        </p:spPr>
      </p:sp>
      <p:sp>
        <p:nvSpPr>
          <p:cNvPr id="9" name="Shape 7"/>
          <p:cNvSpPr/>
          <p:nvPr/>
        </p:nvSpPr>
        <p:spPr>
          <a:xfrm>
            <a:off x="3831336" y="1474470"/>
            <a:ext cx="1481328" cy="2314194"/>
          </a:xfrm>
          <a:prstGeom prst="rect">
            <a:avLst/>
          </a:prstGeom>
          <a:solidFill>
            <a:srgbClr val="FFFFFF"/>
          </a:solidFill>
          <a:ln w="10160">
            <a:solidFill>
              <a:srgbClr val="D9D5CF"/>
            </a:solidFill>
            <a:prstDash val="solid"/>
          </a:ln>
        </p:spPr>
      </p:sp>
      <p:sp>
        <p:nvSpPr>
          <p:cNvPr id="10" name="Shape 8"/>
          <p:cNvSpPr/>
          <p:nvPr/>
        </p:nvSpPr>
        <p:spPr>
          <a:xfrm>
            <a:off x="5312664" y="2284438"/>
            <a:ext cx="114300" cy="256032"/>
          </a:xfrm>
          <a:prstGeom prst="rect">
            <a:avLst/>
          </a:prstGeom>
          <a:solidFill>
            <a:srgbClr val="FFFFFF"/>
          </a:solidFill>
          <a:ln w="12700">
            <a:solidFill>
              <a:srgbClr val="D9D5CF"/>
            </a:solidFill>
            <a:prstDash val="solid"/>
          </a:ln>
        </p:spPr>
      </p:sp>
      <p:sp>
        <p:nvSpPr>
          <p:cNvPr id="11" name="Shape 9"/>
          <p:cNvSpPr/>
          <p:nvPr/>
        </p:nvSpPr>
        <p:spPr>
          <a:xfrm>
            <a:off x="5426964" y="1474470"/>
            <a:ext cx="1481328" cy="2314194"/>
          </a:xfrm>
          <a:prstGeom prst="rect">
            <a:avLst/>
          </a:prstGeom>
          <a:solidFill>
            <a:srgbClr val="FFFFFF"/>
          </a:solidFill>
          <a:ln w="10160">
            <a:solidFill>
              <a:srgbClr val="D9D5CF"/>
            </a:solidFill>
            <a:prstDash val="solid"/>
          </a:ln>
        </p:spPr>
      </p:sp>
      <p:sp>
        <p:nvSpPr>
          <p:cNvPr id="12" name="Shape 10"/>
          <p:cNvSpPr/>
          <p:nvPr/>
        </p:nvSpPr>
        <p:spPr>
          <a:xfrm>
            <a:off x="6908292" y="2284438"/>
            <a:ext cx="114300" cy="256032"/>
          </a:xfrm>
          <a:prstGeom prst="rect">
            <a:avLst/>
          </a:prstGeom>
          <a:solidFill>
            <a:srgbClr val="FFFFFF"/>
          </a:solidFill>
          <a:ln w="12700">
            <a:solidFill>
              <a:srgbClr val="D9D5CF"/>
            </a:solidFill>
            <a:prstDash val="solid"/>
          </a:ln>
        </p:spPr>
      </p:sp>
      <p:sp>
        <p:nvSpPr>
          <p:cNvPr id="13" name="Shape 11"/>
          <p:cNvSpPr/>
          <p:nvPr/>
        </p:nvSpPr>
        <p:spPr>
          <a:xfrm>
            <a:off x="7022592" y="1474470"/>
            <a:ext cx="1481328" cy="2314194"/>
          </a:xfrm>
          <a:prstGeom prst="rect">
            <a:avLst/>
          </a:prstGeom>
          <a:solidFill>
            <a:srgbClr val="FFFFFF"/>
          </a:solidFill>
          <a:ln w="10160">
            <a:solidFill>
              <a:srgbClr val="D9D5CF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640080" y="3826764"/>
            <a:ext cx="7863840" cy="292608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l" indent="0" marL="0">
              <a:buNone/>
            </a:pPr>
            <a:r>
              <a:rPr lang="en-US" sz="1200" dirty="0">
                <a:solidFill>
                  <a:srgbClr val="777777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总结：通过分层到达与分区候诊，缩短交叉流线并提升导向清晰度。</a:t>
            </a:r>
            <a:endParaRPr lang="en-US" sz="1200" dirty="0"/>
          </a:p>
        </p:txBody>
      </p:sp>
      <p:sp>
        <p:nvSpPr>
          <p:cNvPr id="15" name="Text 13"/>
          <p:cNvSpPr/>
          <p:nvPr/>
        </p:nvSpPr>
        <p:spPr>
          <a:xfrm>
            <a:off x="640080" y="4530852"/>
            <a:ext cx="5504688" cy="201168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l" indent="0" marL="0">
              <a:buNone/>
            </a:pPr>
            <a:r>
              <a:rPr lang="en-US" sz="800" dirty="0">
                <a:solidFill>
                  <a:srgbClr val="777777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功能流线分析.pdf p.5</a:t>
            </a:r>
            <a:endParaRPr lang="en-US" sz="800" dirty="0"/>
          </a:p>
        </p:txBody>
      </p:sp>
      <p:sp>
        <p:nvSpPr>
          <p:cNvPr id="16" name="Shape 14"/>
          <p:cNvSpPr/>
          <p:nvPr/>
        </p:nvSpPr>
        <p:spPr>
          <a:xfrm>
            <a:off x="716280" y="1550670"/>
            <a:ext cx="128016" cy="128016"/>
          </a:xfrm>
          <a:prstGeom prst="rect">
            <a:avLst/>
          </a:prstGeom>
          <a:solidFill>
            <a:srgbClr val="8B4513"/>
          </a:solidFill>
          <a:ln w="12700">
            <a:solidFill>
              <a:srgbClr val="8B4513"/>
            </a:solidFill>
            <a:prstDash val="solid"/>
          </a:ln>
        </p:spPr>
      </p:sp>
      <p:sp>
        <p:nvSpPr>
          <p:cNvPr id="17" name="Shape 15"/>
          <p:cNvSpPr/>
          <p:nvPr/>
        </p:nvSpPr>
        <p:spPr>
          <a:xfrm>
            <a:off x="2311908" y="1550670"/>
            <a:ext cx="128016" cy="128016"/>
          </a:xfrm>
          <a:prstGeom prst="rect">
            <a:avLst/>
          </a:prstGeom>
          <a:solidFill>
            <a:srgbClr val="8B4513"/>
          </a:solidFill>
          <a:ln w="12700">
            <a:solidFill>
              <a:srgbClr val="8B4513"/>
            </a:solidFill>
            <a:prstDash val="solid"/>
          </a:ln>
        </p:spPr>
      </p:sp>
      <p:sp>
        <p:nvSpPr>
          <p:cNvPr id="18" name="Shape 16"/>
          <p:cNvSpPr/>
          <p:nvPr/>
        </p:nvSpPr>
        <p:spPr>
          <a:xfrm>
            <a:off x="3907536" y="1550670"/>
            <a:ext cx="128016" cy="128016"/>
          </a:xfrm>
          <a:prstGeom prst="rect">
            <a:avLst/>
          </a:prstGeom>
          <a:solidFill>
            <a:srgbClr val="8B4513"/>
          </a:solidFill>
          <a:ln w="12700">
            <a:solidFill>
              <a:srgbClr val="8B4513"/>
            </a:solidFill>
            <a:prstDash val="solid"/>
          </a:ln>
        </p:spPr>
      </p:sp>
      <p:sp>
        <p:nvSpPr>
          <p:cNvPr id="19" name="Shape 17"/>
          <p:cNvSpPr/>
          <p:nvPr/>
        </p:nvSpPr>
        <p:spPr>
          <a:xfrm>
            <a:off x="5503164" y="1550670"/>
            <a:ext cx="128016" cy="128016"/>
          </a:xfrm>
          <a:prstGeom prst="rect">
            <a:avLst/>
          </a:prstGeom>
          <a:solidFill>
            <a:srgbClr val="8B4513"/>
          </a:solidFill>
          <a:ln w="12700">
            <a:solidFill>
              <a:srgbClr val="8B4513"/>
            </a:solidFill>
            <a:prstDash val="solid"/>
          </a:ln>
        </p:spPr>
      </p:sp>
      <p:sp>
        <p:nvSpPr>
          <p:cNvPr id="20" name="Shape 18"/>
          <p:cNvSpPr/>
          <p:nvPr/>
        </p:nvSpPr>
        <p:spPr>
          <a:xfrm>
            <a:off x="7098792" y="1550670"/>
            <a:ext cx="128016" cy="128016"/>
          </a:xfrm>
          <a:prstGeom prst="rect">
            <a:avLst/>
          </a:prstGeom>
          <a:solidFill>
            <a:srgbClr val="8B4513"/>
          </a:solidFill>
          <a:ln w="12700">
            <a:solidFill>
              <a:srgbClr val="8B4513"/>
            </a:solidFill>
            <a:prstDash val="solid"/>
          </a:ln>
        </p:spPr>
      </p:sp>
      <p:sp>
        <p:nvSpPr>
          <p:cNvPr id="21" name="Text 19"/>
          <p:cNvSpPr/>
          <p:nvPr/>
        </p:nvSpPr>
        <p:spPr>
          <a:xfrm>
            <a:off x="792480" y="2261296"/>
            <a:ext cx="1252728" cy="647974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l" indent="0" marL="0">
              <a:buNone/>
            </a:pPr>
            <a:r>
              <a:rPr lang="en-US" sz="1600" dirty="0">
                <a:solidFill>
                  <a:srgbClr val="1A1A1A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1. 到达分流</a:t>
            </a:r>
            <a:endParaRPr lang="en-US" sz="1600" dirty="0"/>
          </a:p>
        </p:txBody>
      </p:sp>
      <p:sp>
        <p:nvSpPr>
          <p:cNvPr id="22" name="Text 20"/>
          <p:cNvSpPr/>
          <p:nvPr/>
        </p:nvSpPr>
        <p:spPr>
          <a:xfrm>
            <a:off x="2388108" y="2261296"/>
            <a:ext cx="1252728" cy="647974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l" indent="0" marL="0">
              <a:buNone/>
            </a:pPr>
            <a:r>
              <a:rPr lang="en-US" sz="1600" dirty="0">
                <a:solidFill>
                  <a:srgbClr val="1A1A1A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2. 分区候诊</a:t>
            </a:r>
            <a:endParaRPr lang="en-US" sz="1600" dirty="0"/>
          </a:p>
        </p:txBody>
      </p:sp>
      <p:sp>
        <p:nvSpPr>
          <p:cNvPr id="23" name="Text 21"/>
          <p:cNvSpPr/>
          <p:nvPr/>
        </p:nvSpPr>
        <p:spPr>
          <a:xfrm>
            <a:off x="3983736" y="2261296"/>
            <a:ext cx="1252728" cy="647974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l" indent="0" marL="0">
              <a:buNone/>
            </a:pPr>
            <a:r>
              <a:rPr lang="en-US" sz="1600" dirty="0">
                <a:solidFill>
                  <a:srgbClr val="1A1A1A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3. 串联诊疗</a:t>
            </a:r>
            <a:endParaRPr lang="en-US" sz="1600" dirty="0"/>
          </a:p>
        </p:txBody>
      </p:sp>
      <p:sp>
        <p:nvSpPr>
          <p:cNvPr id="24" name="Text 22"/>
          <p:cNvSpPr/>
          <p:nvPr/>
        </p:nvSpPr>
        <p:spPr>
          <a:xfrm>
            <a:off x="5579364" y="2261296"/>
            <a:ext cx="1252728" cy="647974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l" indent="0" marL="0">
              <a:buNone/>
            </a:pPr>
            <a:r>
              <a:rPr lang="en-US" sz="1600" dirty="0">
                <a:solidFill>
                  <a:srgbClr val="1A1A1A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4. 无障碍离院</a:t>
            </a:r>
            <a:endParaRPr lang="en-US" sz="1600" dirty="0"/>
          </a:p>
        </p:txBody>
      </p:sp>
      <p:sp>
        <p:nvSpPr>
          <p:cNvPr id="25" name="Text 23"/>
          <p:cNvSpPr/>
          <p:nvPr/>
        </p:nvSpPr>
        <p:spPr>
          <a:xfrm>
            <a:off x="7174992" y="2261296"/>
            <a:ext cx="1252728" cy="647974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l" indent="0" marL="0">
              <a:buNone/>
            </a:pPr>
            <a:r>
              <a:rPr lang="en-US" sz="1600" dirty="0">
                <a:solidFill>
                  <a:srgbClr val="1A1A1A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5. 家属短停</a:t>
            </a:r>
            <a:endParaRPr lang="en-US" sz="16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</Slides>
  <Notes>1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</vt:i4>
      </vt:variant>
    </vt:vector>
  </HeadingPairs>
  <TitlesOfParts>
    <vt:vector size="4" baseType="lpstr">
      <vt:lpstr>Arial</vt:lpstr>
      <vt:lpstr>Calibri</vt:lpstr>
      <vt:lpstr>Office Theme</vt:lpstr>
      <vt:lpstr>Slide 1</vt:lpstr>
    </vt:vector>
  </TitlesOfParts>
  <Company>Archium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患者旅程：到达至离院</dc:title>
  <dc:subject>患者旅程：到达至离院</dc:subject>
  <dc:creator>Archium</dc:creator>
  <cp:lastModifiedBy>Archium</cp:lastModifiedBy>
  <cp:revision>1</cp:revision>
  <dcterms:created xsi:type="dcterms:W3CDTF">2026-07-28T06:52:59Z</dcterms:created>
  <dcterms:modified xsi:type="dcterms:W3CDTF">2026-07-28T06:52:59Z</dcterms:modified>
</cp:coreProperties>
</file>